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先纠正误解：隐私优先指你能控制运行位置和数据边界，不是所有数据天然不出本机。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92608" y="0"/>
            <a:ext cx="73152" cy="685800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412480" y="3749039"/>
            <a:ext cx="4937760" cy="4937760"/>
          </a:xfrm>
          <a:prstGeom prst="ellipse">
            <a:avLst/>
          </a:prstGeom>
          <a:noFill/>
          <a:ln w="1524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8686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Vibe Coding 学习系列 · OC-01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46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项目介绍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4160520"/>
            <a:ext cx="201168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526280"/>
            <a:ext cx="95097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是什么、能做什么、跟其他框架有什么不同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60350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根据 AI-Coding-Guide-Zh 教程整理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一句话说清楚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OpenClaw 是开源的 AI 私人助手框架，跑在你自己的电脑上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能连接 WhatsApp、Telegram、Discord 等消息平台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可以理解为 7x24 小时在线的 AI 员工，用聊天软件沟通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配置、记忆、聊天记录和工作文件默认由你自己保存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接入云端模型时消息仍会发给对应提供商处理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关键里程碑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8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974817"/>
                <a:gridCol w="3828744"/>
                <a:gridCol w="4032077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时间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事件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意义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2025.11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项目创建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从个人 AI 实验起步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2025.11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开源发布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快速进入开发者社区视野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2026.01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完成更名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统一到 OpenClaw 品牌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2026.04.05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Control UI 多语言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新增 12 种界面语言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2026.04.24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Google Meet 集成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首个内置会议类插件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该选哪个方案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6795193"/>
                <a:gridCol w="4040446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你的需求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推荐方案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 AI 助手，隐私优先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企业客服机器人，需要可视化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Botpress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企业级对话系统，需要精确控制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Rasa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简单的单平台 Bot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自建方案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多平台 + 多模型 + 工具调用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核心架构：三层结构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官方定义：多通道 AI 网关，带可扩展的消息集成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上层是消息平台层，WhatsApp、Telegram、Discord、Slack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中间是 Gateway 网关控制平面，WebSocket 默认端口 18789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下层是 AI 模型提供商层，OpenAI、Anthropic、Ollama 等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网关内还有技能、记忆、工具、插件与 Cron 调度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一条消息的旅程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平台收到事件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Telegram 等 Channel 接收用户发来的消息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Gateway 标准化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网关接收并转换统一格式，路由到对应 Agent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Agent 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加载记忆和技能，模型生成计划或回复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回发平台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必要时调用工具，网关把回复发回原平台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四个核心概念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Gateway 网关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长期运行的守护进程，OpenClaw 的心脏和控制平面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对消息平台的统一抽象，不同平台都看作一个通道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Skills 技能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教 AI 组合使用工具的教科书，即系统指令加工具定义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Memory 记忆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写在磁盘上的 Markdown，没有向量数据库和 RAG 管道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内置工具类别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04737"/>
                <a:gridCol w="7730902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工具类别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能力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浏览器控制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打开网页、截图、点击、填表，基于 Playwright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Canvas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Agent 驱动的可视化工作区，支持 A2UI 推送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文件操作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在工作空间内读写文件、管理目录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Shell 执行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在安全沙箱内运行命令行命令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定时任务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 Cron 表达式调度提醒与自动化任务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技能与插件的三个层级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Bundled Skills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内置技能，随 OpenClaw 一起安装，来自核心仓库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627632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627632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74536" y="1883664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Workspace Skills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74536" y="2432304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你自己写在本地工作空间目录的技能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Managed Skills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669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通过 ClawHub 安装的社区技能，可一键安装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4160520"/>
            <a:ext cx="5257800" cy="2240280"/>
          </a:xfrm>
          <a:prstGeom prst="roundRect">
            <a:avLst>
              <a:gd name="adj" fmla="val 7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160520"/>
            <a:ext cx="68580" cy="22402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74536" y="4416552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Plugin 插件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965192"/>
            <a:ext cx="47091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核心保持精简，可选功能通过插件扩展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支持的模型提供商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06654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43104"/>
                <a:gridCol w="8792535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代表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国际主流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OpenAI、Anthropic、Google、Mistral、xAI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本地与自托管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Ollama、vLLM、node-llama-cpp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中国大陆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通义千问、百度千帆、智谱、DeepSeek、MiniMax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代理与路由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OpenRouter、LiteLLM、AWS Bedrock、Together AI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适合用 OpenClaw 的场景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49808" y="1856231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73736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个人效率助手：通过聊天软件管理日程、整理邮件</a:t>
            </a:r>
          </a:p>
        </p:txBody>
      </p:sp>
      <p:sp>
        <p:nvSpPr>
          <p:cNvPr id="7" name="Oval 6"/>
          <p:cNvSpPr/>
          <p:nvPr/>
        </p:nvSpPr>
        <p:spPr>
          <a:xfrm>
            <a:off x="749808" y="2774289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655417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开发者工具：在聊天中管理 GitHub Issue 与 PR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3692347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3573475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知识管理：连接 Obsidian、Notion，自动摘要长文档</a:t>
            </a:r>
          </a:p>
        </p:txBody>
      </p:sp>
      <p:sp>
        <p:nvSpPr>
          <p:cNvPr id="11" name="Oval 10"/>
          <p:cNvSpPr/>
          <p:nvPr/>
        </p:nvSpPr>
        <p:spPr>
          <a:xfrm>
            <a:off x="749808" y="4610404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4491532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多平台统一入口：一个助手，所有常用软件都能访问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5528462"/>
            <a:ext cx="155448" cy="1554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15568" y="5409590"/>
            <a:ext cx="10332720" cy="8997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700" b="0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共享同一套记忆，AI 在所有平台都认识你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不适合的场景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673352"/>
          <a:ext cx="10835639" cy="24688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02006"/>
                <a:gridCol w="4388402"/>
                <a:gridCol w="374523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场景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原因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50" b="1">
                          <a:solidFill>
                            <a:srgbClr val="081422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替代方案</a:t>
                      </a:r>
                    </a:p>
                  </a:txBody>
                  <a:tcPr marL="109728" marR="91440" marT="36576" marB="36576" anchor="ctr">
                    <a:solidFill>
                      <a:srgbClr val="22D3E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企业客服机器人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OpenClaw 是单用户设计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Botpress、Intercom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多用户 SaaS 产品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没有多租户架构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自建方案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不想碰终端的用户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安装和配置需要命令行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ChatGPT、Claude.ai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低配设备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 Node.js 22+，内存占用不小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轻量级 Bot 框架</a:t>
                      </a:r>
                    </a:p>
                  </a:txBody>
                  <a:tcPr marL="109728" marR="91440" marT="36576" marB="36576" anchor="ctr">
                    <a:solidFill>
                      <a:srgbClr val="14223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需要 100% 可用性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个人设备可能关机或断网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50" b="0">
                          <a:solidFill>
                            <a:srgbClr val="E8F0FA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云端 AI 服务</a:t>
                      </a:r>
                    </a:p>
                  </a:txBody>
                  <a:tcPr marL="109728" marR="91440" marT="36576" marB="36576" anchor="ctr">
                    <a:solidFill>
                      <a:srgbClr val="18284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420624"/>
            <a:ext cx="107899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新手路线（1-2 小时）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261872"/>
            <a:ext cx="1143000" cy="59436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54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安装 OpenClaw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阅读 02 安装部署指南，运行 openclaw onboard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7472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1246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1246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连接第一个平台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阅读 05 消息平台接入指南，推荐从 Telegram 开始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0138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配置 AI 模型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阅读 04 模型配置指南，推荐从 OpenAI 或 Anthropic 开始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60" y="2130552"/>
            <a:ext cx="2468880" cy="3291840"/>
          </a:xfrm>
          <a:prstGeom prst="roundRect">
            <a:avLst>
              <a:gd name="adj" fmla="val 6000"/>
            </a:avLst>
          </a:prstGeom>
          <a:solidFill>
            <a:srgbClr val="182840"/>
          </a:solidFill>
          <a:ln w="12700">
            <a:solidFill>
              <a:srgbClr val="2C40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52560" y="2130552"/>
            <a:ext cx="2468880" cy="68580"/>
          </a:xfrm>
          <a:prstGeom prst="rect">
            <a:avLst/>
          </a:prstGeom>
          <a:solidFill>
            <a:srgbClr val="A78B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90304" y="2542032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>
                <a:solidFill>
                  <a:srgbClr val="22D3EE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0304" y="3227832"/>
            <a:ext cx="2011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75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试用内置技能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3913632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阅读 06 技能系统指南，先试 weather、summarize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9107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Vibe Coding 学习系列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71455" y="6291072"/>
            <a:ext cx="12344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7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272887" y="2331720"/>
            <a:ext cx="1645920" cy="73152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97480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3800" b="1">
                <a:solidFill>
                  <a:srgbClr val="E8F0FA"/>
                </a:solidFill>
                <a:latin typeface="PingFang SC"/>
                <a:ea typeface="PingFang SC"/>
                <a:cs typeface="PingFang SC"/>
              </a:rPr>
              <a:t>先建立整体心智模型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977639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80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下一步：安装部署，把 OpenClaw 装到你的电脑上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8064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>
                <a:solidFill>
                  <a:srgbClr val="9FB3C8"/>
                </a:solidFill>
                <a:latin typeface="PingFang SC"/>
                <a:ea typeface="PingFang SC"/>
                <a:cs typeface="PingFang SC"/>
              </a:rPr>
              <a:t>AI-Coding-Guide-Zh · 老金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