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【第1页｜45秒｜累计 00:00—00:45】</a:t>
            </a:r>
          </a:p>
          <a:p>
            <a:r>
              <a:t>【内容属性】主题导入</a:t>
            </a:r>
          </a:p>
          <a:p>
            <a:r>
              <a:t>【逐页讲稿】</a:t>
            </a:r>
          </a:p>
          <a:p>
            <a:r>
              <a:t>大家好，今天的题目是人生与价值。我们借稻盛和夫的《人为什么活着》，讨论一个很近的问题：当我们努力学习、争取机会、希望被认可时，究竟是在追求什么？我不想把这次分享做成成功学清单，也不会要求大家接受一种统一的人生答案。我们沿着个体与社会、小我与大我、生命与价值三条线索，先理解作者的思考，再把它放进班级生活，最后保留质疑与选择的空间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【第2页｜75秒｜累计 00:45—02:00】</a:t>
            </a:r>
          </a:p>
          <a:p>
            <a:r>
              <a:t>【内容属性】开场互动｜个人思考，不分高低</a:t>
            </a:r>
          </a:p>
          <a:p>
            <a:r>
              <a:t>【逐页讲稿】</a:t>
            </a:r>
          </a:p>
          <a:p>
            <a:r>
              <a:t>先请大家想十秒：假如明天不用为分数、收入和别人的评价奔忙，你最愿意把时间花在哪里？可以是探索一个问题，陪伴家人，帮助朋友，也可以是好好休息。请自愿举手分享两个答案，每人用一句话。我们暂时不给它们排高低。刚才的答案提示我们，有些事的意义不来自外部奖励。今天要讨论的不是怎样摆脱全部现实需要，而是在现实需要之外，我们是否还看见成长、关系与生活体验。带着自己的答案，接下来再听作者的回答。</a:t>
            </a:r>
          </a:p>
          <a:p/>
          <a:p>
            <a:r>
              <a:t>【现场执行】静思10秒 → 2位同学各15秒 → 主持人归纳35秒。无人发言时，用“散步、解一道题、陪家人”作中性示例。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【第3页｜80秒｜累计 02:00—03:20】</a:t>
            </a:r>
          </a:p>
          <a:p>
            <a:r>
              <a:t>【内容属性】书目与结构｜据2009年版书目页目录</a:t>
            </a:r>
          </a:p>
          <a:p>
            <a:r>
              <a:t>【逐页讲稿】</a:t>
            </a:r>
          </a:p>
          <a:p>
            <a:r>
              <a:t>先说明这次讨论的阅读对象，避免与其他同名书或稻盛的《活法》混淆。本次按吕美女译、中国人民大学出版社2009年版的公开书目及目录组织。它分三部分：与宇宙意志相和谐，秉持利他之心而活，让心智提升到更高的境界。由此可见，这不仅是工作方法书，也涉及生命观、欲望、自由、考验以及共生与竞争。今天我会把这些线索转换成班级能讨论的问题。目录名称有公开依据，但正文观点只作主题转述；没有核对指定纸本的段落，不使用逐字引文或页码。生活案例和边界辨析都是我的延伸，不冒充作者的故事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【第4页｜85秒｜累计 03:20—04:45】</a:t>
            </a:r>
          </a:p>
          <a:p>
            <a:r>
              <a:t>【内容属性】思想概括｜心智、人生目的与心性成长</a:t>
            </a:r>
          </a:p>
          <a:p>
            <a:r>
              <a:t>【逐页讲稿】</a:t>
            </a:r>
          </a:p>
          <a:p>
            <a:r>
              <a:t>稻盛对人生意义的思考有一个重要方向：人生不能只靠得到多少财富、地位或称赞来回答，也要看自己在生活中成为怎样的人。他使用心智、灵魂等词汇表达精神成长，这属于作者的哲学与信念，不是我们今天要证明的科学结论。我把能带进日常的部分理解为：欲望来临时能否自省，遇到挫折时能否不把怨恨转嫁给别人，与人合作时是否更诚实、更可靠。比如一次汇报没有得高分，但你学会核查资料和承担责任，这些变化也真实存在。当然，这不意味着成绩不重要，而是成绩不能独占评价人生的权力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【第5页｜80秒｜累计 04:45—06:05】</a:t>
            </a:r>
          </a:p>
          <a:p>
            <a:r>
              <a:t>【内容属性】本书主题转述＋校园应用｜欲望、知足之道</a:t>
            </a:r>
          </a:p>
          <a:p>
            <a:r>
              <a:t>【逐页讲稿】</a:t>
            </a:r>
          </a:p>
          <a:p>
            <a:r>
              <a:t>本书把欲望与知足纳入讨论，这给我们的启发不是停止追求，而是反省追求怎样支配自己。比如我想学好一门课，这可以推动我钻研；但如果我只想超过某位同学，就可能把合作看成威胁，甚至靠贬低别人获得优越感。同样是进步，背后的动机和对人的影响可以很不同。我的理解是，合理需要应被承认，想要收入、安全感和发展机会并不可耻；同时，也可以问自己：如果没人看到，我还认不认可这件事？为了得到它，我愿意付出什么代价，又有哪些底线不能越过？知足不是拒绝成长，而是不让无休止的比较替我们决定人生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【第6页｜85秒｜累计 06:05—07:30】</a:t>
            </a:r>
          </a:p>
          <a:p>
            <a:r>
              <a:t>【内容属性】本书“利他、共生”线索＋分享者分析</a:t>
            </a:r>
          </a:p>
          <a:p>
            <a:r>
              <a:t>【逐页讲稿】</a:t>
            </a:r>
          </a:p>
          <a:p>
            <a:r>
              <a:t>从个人转向社会，先看一个普通早晨：食物从哪里来，水电如何送到，学校如何运转，我们能安心坐在这里又需要多少人的劳动？个人的努力很重要，但它从来不是在真空中发生的。把这点与书中的利他和共生线索联系起来，我的理解是：看见支持，才可能理解责任。这里的责任不是背上一笔永远还不完的道德债，而是承认别人也有自己的需要和权益。回应社会不一定要做轰轰烈烈的大事；完成承诺、尊重劳动、不把自己的便利建立在别人的额外负担上，都在维护共同生活。相互依赖也意味着，社会要通过公平的机会与规则支持个人，而非只要求个人奉献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【第7页｜85秒｜累计 07:30—08:55】</a:t>
            </a:r>
          </a:p>
          <a:p>
            <a:r>
              <a:t>【内容属性】分享者框架｜不是本书固定概念体系</a:t>
            </a:r>
          </a:p>
          <a:p>
            <a:r>
              <a:t>【逐页讲稿】</a:t>
            </a:r>
          </a:p>
          <a:p>
            <a:r>
              <a:t>小我与大我是这次分享的分析框架，不是把它说成本书原有的一套术语。小我指我的生存、尊严、成长和幸福；大我指我愿意把他人、共同体和长远影响也放进考虑。二者有时能够互相成就：我提升表达能力，既帮助自己的发展，也能让团队沟通清楚；我守住承诺，既获得信任，也减少同伴的不确定。但二者有时确实冲突，不能用一句集体最重要把冲突抹掉。值得寻找的不是让自己消失，而是让个人成长更少伤害他人、更可能产生共享价值。同时，集体应当保护个人的边界，让合作不是依靠少数人的透支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【第8页｜80秒｜累计 08:55—10:15】</a:t>
            </a:r>
          </a:p>
          <a:p>
            <a:r>
              <a:t>【内容属性】校园案例｜分享者原创，非原书故事</a:t>
            </a:r>
          </a:p>
          <a:p>
            <a:r>
              <a:t>【逐页讲稿】</a:t>
            </a:r>
          </a:p>
          <a:p>
            <a:r>
              <a:t>把刚才的分析放进一次小组汇报。你负责搜集资料，可以只把材料交掉，也可以核查来源、理解内容、讲清逻辑，提升自己的能力。再往前一步，你把来源、文件结构和下一步交接说明写清楚，队友就更容易接续。这里最重要的不是做得更多，而是做得更便于共同使用。个人能力与集体质量就在同一份交付里相遇了。不过这绝不意味着，认真负责的人应该包办其他人的任务。团队仍需明确分工、轮值、协商截止时间。一个好的共同体不能只赞美某个人的善意，还要减少重复劳动，让大家都有机会成长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【第9页｜130秒｜累计 10:15—12:25】</a:t>
            </a:r>
          </a:p>
          <a:p>
            <a:r>
              <a:t>【内容属性】现场互动｜自编情境，讨论理由而非道德高低</a:t>
            </a:r>
          </a:p>
          <a:p>
            <a:r>
              <a:t>【逐页讲稿】</a:t>
            </a:r>
          </a:p>
          <a:p>
            <a:r>
              <a:t>情境来了：小组汇报前夜，你已经明显疲惫，但再做两小时，可能让全组得分更高。你会继续，退出，还是只完成一项限定任务？请先独立选，不要急着跟随同学。接下来请与你旁边的人交换理由，尤其说清楚，你的选择依赖什么条件。我们再请两位意见不同的同学分享。现在追加条件：其他成员没有公平分担，而且你明天还有考试。你的选择会改变吗？允许改选，因为补充信息后调整判断，比坚持一个标签更重要。最后我想归纳：关心共同成绩值得肯定，但它不能自动覆盖健康、分工公平和自主选择。第三种选项也不是标准答案，有时合理的拒绝是必要的。</a:t>
            </a:r>
          </a:p>
          <a:p/>
          <a:p>
            <a:r>
              <a:t>【现场执行】独立选择10秒 → 同桌交流35秒 → 两人分享各20秒 → 追加条件与改选15秒 → 归纳30秒。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【第10页｜75秒｜累计 12:25—13:40】</a:t>
            </a:r>
          </a:p>
          <a:p>
            <a:r>
              <a:t>【内容属性】分享者伦理辨析｜由利他主题延伸</a:t>
            </a:r>
          </a:p>
          <a:p>
            <a:r>
              <a:t>【逐页讲稿】</a:t>
            </a:r>
          </a:p>
          <a:p>
            <a:r>
              <a:t>这页是我对利他的补充，而不是宣称作者提出了完整的边界理论。判断一项帮助，可看三件事。第一，是否自愿：你能否在不被羞辱或惩罚的情况下说不？第二，是否公平：责任是否长期压在同一个人身上，能不能重新分工？第三，是否有效且可持续：对方真正受益了吗，自己是否承受得起？例如给同学讲二十分钟思路，可以既有帮助又有边界；长期替他写作业，却可能损害双方。照顾自己的健康并不天然自私，规则与分工也不是善意的对立面。真正可持续的合作，要尊重帮助者与被帮助者的尊严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【第11页｜110秒｜累计 13:40—15:30】</a:t>
            </a:r>
          </a:p>
          <a:p>
            <a:r>
              <a:t>【内容属性】本书主题“共生与竞争”＋现场互动</a:t>
            </a:r>
          </a:p>
          <a:p>
            <a:r>
              <a:t>【逐页讲稿】</a:t>
            </a:r>
          </a:p>
          <a:p>
            <a:r>
              <a:t>目录专门讨论共生与竞争，这与班级非常接近。两位同学都要争取同一个名额，其中一位邀请你共享复习资料。你愿意共享吗？请同桌用二十秒讨论，并且分别提出一个支持和一个反对的理由。请一位同学分享。我的理解是，竞争可以促使我们提升能力，共生则追问竞争能否不破坏共同生活。共享公开学习材料、交流理解方法，可以提升整体水平；但泄露考试内容、侵犯他人成果，或要求别人交出全部个人成果，则不是共同进步。我们不必消灭竞争，也不必美化一切竞争。更好的问题是：规则是否公平，资源能否正当地共享，每个人能否在不伤害他人的前提下发展？</a:t>
            </a:r>
          </a:p>
          <a:p/>
          <a:p>
            <a:r>
              <a:t>【现场执行】读情境与独立思考15秒 → 同桌讨论20秒 → 一人分享20秒 → 归纳55秒。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【第12页｜90秒｜累计 15:30—17:00】</a:t>
            </a:r>
          </a:p>
          <a:p>
            <a:r>
              <a:t>【内容属性】生命与价值｜分享者立场与独立思考</a:t>
            </a:r>
          </a:p>
          <a:p>
            <a:r>
              <a:t>【逐页讲稿】</a:t>
            </a:r>
          </a:p>
          <a:p>
            <a:r>
              <a:t>再问一个更难的问题：一个人因为疾病、挫折或年龄，暂时无法创造显著成果，也无力帮助别人，他的生命价值是否因此减少？请大家只在心里回答，不对任何人的生命尊严投票。我们可以区分两件事：某项行为产生的贡献有大小，但人的基本尊严不该随产出升降。我们会赞赏贡献，却不能由此推导出没有产出的人不值得被照顾。再回到作者对考验和逆境的关注，我愿意接受的是，在力所能及的范围内寻找成长；我不接受的是，用成长要求受苦者感谢痛苦，或者把失败归咎于不够善良。休息、被理解、得到照护，本来就是完整生命的一部分。</a:t>
            </a:r>
          </a:p>
          <a:p/>
          <a:p>
            <a:r>
              <a:t>【现场执行】静思10秒；不发起“某类人是否有价值”的举手表决。讲述后停顿，让问题有消化空间。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【第13页｜65秒｜累计 17:00—18:05】</a:t>
            </a:r>
          </a:p>
          <a:p>
            <a:r>
              <a:t>【内容属性】批判性阅读｜区分价值主张、信念与事实</a:t>
            </a:r>
          </a:p>
          <a:p>
            <a:r>
              <a:t>【逐页讲稿】</a:t>
            </a:r>
          </a:p>
          <a:p>
            <a:r>
              <a:t>读到这里，我赞同作者提醒我们认真审视动机，不只把个人利益当作尺度，并把人格成长放回日常选择。与此同时，有三点需要保留。第一，作者谈宇宙、灵魂和因果时，表达的是哲学信念，不应直接当作科学事实。第二，努力与善意重要，但不能保证成功，资源、机会和制度也影响结果。第三，利他需要与公平和权利并行，不能用好心替代合理制度。对一本书保持距离，并不妨碍它启发我们。恰恰因为我认真对待它，才需要问：哪些观点我愿意接受，哪些需要证据，哪些必须补上条件？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【第14页｜65秒｜累计 18:05—19:10】</a:t>
            </a:r>
          </a:p>
          <a:p>
            <a:r>
              <a:t>【内容属性】行动邀请｜分享者设计，可选择而非强制</a:t>
            </a:r>
          </a:p>
          <a:p>
            <a:r>
              <a:t>【逐页讲稿】</a:t>
            </a:r>
          </a:p>
          <a:p>
            <a:r>
              <a:t>如果把问题只停在观念上，可能听完感动，生活却没有变化。所以我提议一个可以自愿尝试的七天实验。选择一件能提升自己的小事，一次事先协商、有明确边界的帮助，再留一段不被打断的陪伴，对象也可以是自己。不要三个都贪多，可以只选一个。七天后用三个问题复盘：我有什么变化，对方是否真正受益，我能否继续而不透支？这不是道德打卡，也不需要向别人证明自己高尚。它只是让我们收集实际经验，看哪些行动真正改善关系，哪些方式需要调整。生命意义或许不会一次想明白，但可以在小规模行动中慢慢变得具体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【第15页｜50秒｜累计 19:10—20:00】</a:t>
            </a:r>
          </a:p>
          <a:p>
            <a:r>
              <a:t>【内容属性】结语与资料说明</a:t>
            </a:r>
          </a:p>
          <a:p>
            <a:r>
              <a:t>【逐页讲稿】</a:t>
            </a:r>
          </a:p>
          <a:p>
            <a:r>
              <a:t>回到最初的问题：人为什么活着？我不会用一句口号替大家回答。今天从书中带走的，是对心智、利他和成长的追问；从讨论中带走的，是看见个人需要、共同利益与人的尊严。对我而言，小我与大我不是谁消灭谁，而是让自己的成长可能支持别人，让共同体也能保护每一个人。请在心里留下一件明天愿意开始的小事。最后说明，本次书目和目录依据屏幕上的公开资料，观点作主题转述，互动与边界分析属于分享者延伸；没有使用未经核对的原文和页码。谢谢大家，也欢迎提出不同意见。</a:t>
            </a:r>
          </a:p>
          <a:p/>
          <a:p>
            <a:r>
              <a:t>【现场执行】按自然语速讲述，在关键句后稍作停顿。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slide" Target="slide6.xml"/><Relationship Id="rId5" Type="http://schemas.openxmlformats.org/officeDocument/2006/relationships/image" Target="../media/image6.png"/><Relationship Id="rId6" Type="http://schemas.openxmlformats.org/officeDocument/2006/relationships/slide" Target="slide7.xml"/><Relationship Id="rId7" Type="http://schemas.openxmlformats.org/officeDocument/2006/relationships/image" Target="../media/image7.png"/><Relationship Id="rId8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主题导入</a:t>
            </a:r>
          </a:p>
        </p:txBody>
      </p:sp>
      <p:sp>
        <p:nvSpPr>
          <p:cNvPr id="3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1</a:t>
            </a:r>
          </a:p>
        </p:txBody>
      </p:sp>
      <p:pic>
        <p:nvPicPr>
          <p:cNvPr id="4" name="Picture 3" descr="library.jpg"/>
          <p:cNvPicPr>
            <a:picLocks noChangeAspect="1"/>
          </p:cNvPicPr>
          <p:nvPr/>
        </p:nvPicPr>
        <p:blipFill>
          <a:blip r:embed="rId3"/>
          <a:srcRect t="31766" b="31766"/>
          <a:stretch>
            <a:fillRect/>
          </a:stretch>
        </p:blipFill>
        <p:spPr>
          <a:xfrm>
            <a:off x="0" y="0"/>
            <a:ext cx="12191695" cy="2880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3182112"/>
            <a:ext cx="11137392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5584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3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人生•价值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87952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——读书报告会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456432"/>
            <a:ext cx="49834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《人为什么活着》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160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[日] 稻盛和夫 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773168"/>
            <a:ext cx="49377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个体与社会  /  小我与大我  /  生命与价值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61888"/>
            <a:ext cx="10698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书目主视觉：Thomas Rowlandson，《The Library》，1813，大都会艺术博物馆，CC0。</a:t>
            </a:r>
          </a:p>
        </p:txBody>
      </p:sp>
    </p:spTree>
  </p:cSld>
  <p:clrMapOvr>
    <a:masterClrMapping/>
  </p:clrMapOvr>
  <p:extLst xmlns:mc="http://schemas.openxmlformats.org/markup-compatibility/2006" xmlns:p14="http://schemas.microsoft.com/office/powerpoint/2010/main">
    <p:ext uri="{BB962C8B-B14F-4D97-AF65-F5344CB8AC3E}">
      <p14:creationId val="1824977727"/>
    </p:ext>
  </p:extLs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没有掌声时，你还愿意做什么？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9ECE9"/>
                </a:solidFill>
                <a:latin typeface="Microsoft YaHei"/>
              </a:defRPr>
            </a:pPr>
            <a:r>
              <a:rPr>
                <a:ea typeface="Microsoft YaHei"/>
              </a:rPr>
              <a:t>开场互动｜个人思考，不分高低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9ECE9"/>
                </a:solidFill>
                <a:latin typeface="Microsoft YaHei"/>
              </a:defRPr>
            </a:pPr>
            <a:r>
              <a:rPr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56231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想一件，即使不被表扬</a:t>
            </a:r>
          </a:p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也愿意做的事。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78808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C5DDCF"/>
                </a:solidFill>
                <a:latin typeface="Microsoft YaHei"/>
              </a:defRPr>
            </a:pPr>
            <a:r>
              <a:rPr>
                <a:ea typeface="Microsoft YaHei"/>
              </a:rPr>
              <a:t>探索 / 陪伴 / 帮助 / 休息 / 其他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3036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先独立想，再分享理由；允许不同答案。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465683369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先把这本书读清楚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书目与结构｜据2009年版书目页目录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《人为什么活着：稻盛和夫的哲学》</a:t>
            </a:r>
          </a:p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吕美女 译｜中国人民大学出版社｜2009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7121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555B57"/>
                </a:solidFill>
                <a:latin typeface="Microsoft YaHei"/>
              </a:defRPr>
            </a:pPr>
            <a:r>
              <a:rPr>
                <a:ea typeface="Microsoft YaHei"/>
              </a:rPr>
              <a:t>与宇宙意志相和谐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871216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生命观、心智与欲望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962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555B57"/>
                </a:solidFill>
                <a:latin typeface="Microsoft YaHei"/>
              </a:defRPr>
            </a:pPr>
            <a:r>
              <a:rPr>
                <a:ea typeface="Microsoft YaHei"/>
              </a:rPr>
              <a:t>秉持利他之心而活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849624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人的本性、自由与人生考验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2803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555B57"/>
                </a:solidFill>
                <a:latin typeface="Microsoft YaHei"/>
              </a:defRPr>
            </a:pPr>
            <a:r>
              <a:rPr>
                <a:ea typeface="Microsoft YaHei"/>
              </a:rPr>
              <a:t>让心智提升到更高的境界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828032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逆境、勤劳、共生与竞争、知足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目录据公开书目；观点为转述，校园案例与分析框架为分享者延伸。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192863800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作者把问题，从“得到”转向“成为”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思想概括｜心智、人生目的与心性成长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4</a:t>
            </a:r>
          </a:p>
        </p:txBody>
      </p:sp>
      <p:pic>
        <p:nvPicPr>
          <p:cNvPr id="5" name="Picture 4" descr="reading.jpg"/>
          <p:cNvPicPr>
            <a:picLocks noChangeAspect="1"/>
          </p:cNvPicPr>
          <p:nvPr/>
        </p:nvPicPr>
        <p:blipFill>
          <a:blip r:embed="rId3"/>
          <a:srcRect l="2566" r="2566"/>
          <a:stretch>
            <a:fillRect/>
          </a:stretch>
        </p:blipFill>
        <p:spPr>
          <a:xfrm>
            <a:off x="594360" y="1783080"/>
            <a:ext cx="5166360" cy="4242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956816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外在所得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24328"/>
            <a:ext cx="48463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分数、机会、收入与认可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30752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内在成为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398264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诚实、自省、可靠与善意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40096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Rembrandt，《Woman Reading》，大都会艺术博物馆，CC0。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2088365742"/>
    </p:ext>
  </p:extLs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欲望有方向，成长才不只剩比较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本书主题转述＋校园应用｜欲望、知足之道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92807"/>
            <a:ext cx="5577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需要，可以承认。</a:t>
            </a:r>
          </a:p>
          <a:p>
            <a:pPr>
              <a:spcAft>
                <a:spcPts val="1000"/>
              </a:spcAft>
              <a:defRPr sz="36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比较，不必主宰。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577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我真正需要什么？</a:t>
            </a:r>
          </a:p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为此付出的代价是否合理？</a:t>
            </a:r>
          </a:p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哪些底线不能交换？</a:t>
            </a:r>
          </a:p>
        </p:txBody>
      </p:sp>
      <p:pic>
        <p:nvPicPr>
          <p:cNvPr id="7" name="Picture 6" descr="sower.jpg"/>
          <p:cNvPicPr>
            <a:picLocks noChangeAspect="1"/>
          </p:cNvPicPr>
          <p:nvPr/>
        </p:nvPicPr>
        <p:blipFill>
          <a:blip r:embed="rId3"/>
          <a:srcRect l="15823" r="15823"/>
          <a:stretch>
            <a:fillRect/>
          </a:stretch>
        </p:blipFill>
        <p:spPr>
          <a:xfrm>
            <a:off x="6720840" y="1783080"/>
            <a:ext cx="4846320" cy="4242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0840" y="5623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Charles Jacque，《The Sower》，约1852，大都会艺术博物馆，CC0。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780666313"/>
    </p:ext>
  </p:extLs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个体与社会：我并非独自长大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本书“利他、共生”线索＋分享者分析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800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3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一份普通生活，</a:t>
            </a:r>
          </a:p>
          <a:p>
            <a:pPr>
              <a:spcAft>
                <a:spcPts val="1000"/>
              </a:spcAft>
              <a:defRPr sz="33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背后是一张协作网络。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05072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水、电、食物、教育、交通。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每一种便利，都连接着他人的劳动。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783080"/>
            <a:ext cx="5577840" cy="424281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20574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看见支持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788920"/>
            <a:ext cx="45720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不是背负一笔道德债，</a:t>
            </a:r>
          </a:p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而是理解我们的相互依赖。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406908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回应支持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480060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守住承诺，尊重劳动，维护公平。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1502557535"/>
    </p:ext>
  </p:extLs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小我与大我：扩展关心，不是抹去自己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分享者框架｜不是本书固定概念体系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9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小我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70632"/>
            <a:ext cx="4663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生存、尊严、成长与幸福。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7432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85032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9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大我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53712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让他人的处境与共同利益</a:t>
            </a:r>
          </a:p>
          <a:p>
            <a:pPr>
              <a:spcAft>
                <a:spcPts val="1000"/>
              </a:spcAft>
              <a:defRPr sz="2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进入我的选择。</a:t>
            </a:r>
          </a:p>
        </p:txBody>
      </p:sp>
      <p:pic>
        <p:nvPicPr>
          <p:cNvPr id="10" name="Picture 9" descr="bridge-real.jpg"/>
          <p:cNvPicPr>
            <a:picLocks noChangeAspect="1"/>
          </p:cNvPicPr>
          <p:nvPr/>
        </p:nvPicPr>
        <p:blipFill>
          <a:blip r:embed="rId3"/>
          <a:srcRect l="600" r="600"/>
          <a:stretch>
            <a:fillRect/>
          </a:stretch>
        </p:blipFill>
        <p:spPr>
          <a:xfrm>
            <a:off x="5806440" y="1783080"/>
            <a:ext cx="5760720" cy="4242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06440" y="56235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Wenceslaus Hollar，《The Stone Bridge》，1649，大都会艺术博物馆，CC0。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1082549477"/>
    </p:ext>
  </p:extLs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同一份资料，怎样兼顾我与我们？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校园案例｜分享者原创，非原书故事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一份资料的三种交付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82112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准时交付，不留下空缺。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54203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成长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182112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核实来源，真正理解内容。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54203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共享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182112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说明结构，让同伴方便接续。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8463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先理解，再交付；不等于替别人包办。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931222643"/>
    </p:ext>
  </p:extLs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利他，会不会变成对自己的亏待？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9ECE9"/>
                </a:solidFill>
                <a:latin typeface="Microsoft YaHei"/>
              </a:defRPr>
            </a:pPr>
            <a:r>
              <a:rPr>
                <a:ea typeface="Microsoft YaHei"/>
              </a:rPr>
              <a:t>现场互动｜自编情境，讨论理由而非道德高低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9ECE9"/>
                </a:solidFill>
                <a:latin typeface="Microsoft YaHei"/>
              </a:defRPr>
            </a:pPr>
            <a:r>
              <a:rPr>
                <a:ea typeface="Microsoft Ya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已经疲惫的你，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要不要再为小组做两小时？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C5DDCF"/>
                </a:solidFill>
                <a:latin typeface="Microsoft YaHei"/>
              </a:defRPr>
            </a:pPr>
            <a:r>
              <a:rPr>
                <a:ea typeface="Microsoft YaHei"/>
              </a:rPr>
              <a:t>继续投入        停止并说明        限定任务后交接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091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追加条件：分工不公平，而且你明天还有考试。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138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你改选吗？是什么条件改变了你的判断？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702923216"/>
    </p:ext>
  </p:extLs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有边界的善意，才能走得更远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分享者伦理辨析｜由利他主题延伸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6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三个判断，不是一个口号。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自愿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278892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能够拒绝，不靠羞辱动员。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公平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379476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可以协商，不让少数人包办。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有效且持续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800600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看真实效果，也看健康与代价。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1591931206"/>
    </p:ext>
  </p:extLs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竞争一定与共生相反吗？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本书主题“共生与竞争”＋现场互动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6126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同一个名额，</a:t>
            </a:r>
          </a:p>
          <a:p>
            <a:pPr>
              <a:spcAft>
                <a:spcPts val="1000"/>
              </a:spcAft>
              <a:defRPr sz="36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还能共享复习资料吗？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22191"/>
            <a:ext cx="6126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支持共享的理由是什么？</a:t>
            </a:r>
          </a:p>
          <a:p>
            <a:pPr>
              <a:spcAft>
                <a:spcPts val="1000"/>
              </a:spcAft>
              <a:defRPr sz="25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保留边界的理由又是什么？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13248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555B57"/>
                </a:solidFill>
                <a:latin typeface="Microsoft YaHei"/>
              </a:defRPr>
            </a:pPr>
            <a:r>
              <a:rPr>
                <a:ea typeface="Microsoft YaHei"/>
              </a:rPr>
              <a:t>区分：共同学习 ≠ 泄题或侵占成果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847088"/>
            <a:ext cx="4023360" cy="406908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237744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竞争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3310128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不是非此即彼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4206240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共生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505663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共同学习，不越过公平边界。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1206624508"/>
    </p:ext>
  </p:extLs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没有显著成就，生命还值得尊重吗？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生命与价值｜分享者立场与独立思考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请区分两件事。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行为的贡献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8444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会随情境与行动不同。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889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人的尊严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584448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不应由产出高低决定。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00600"/>
            <a:ext cx="10698480" cy="77724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974336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休息、被爱与得到照护，同样属于完整的人生。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820809834"/>
    </p:ext>
  </p:extLs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与作者对话，而不是照单全收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批判性阅读｜区分价值主张、信念与事实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212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555B57"/>
                </a:solidFill>
                <a:latin typeface="Microsoft YaHei"/>
              </a:defRPr>
            </a:pPr>
            <a:r>
              <a:rPr>
                <a:ea typeface="Microsoft YaHei"/>
              </a:rPr>
              <a:t>我愿意带走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反省动机</a:t>
            </a:r>
          </a:p>
          <a:p>
            <a:pPr>
              <a:spcAft>
                <a:spcPts val="1000"/>
              </a:spcAft>
              <a:defRPr sz="25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认真行动</a:t>
            </a:r>
          </a:p>
          <a:p>
            <a:pPr>
              <a:spcAft>
                <a:spcPts val="1000"/>
              </a:spcAft>
              <a:defRPr sz="25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让他人的处境进入选择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783080"/>
            <a:ext cx="5303520" cy="4242816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048256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我仍要追问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999232"/>
            <a:ext cx="4526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信念，不等于科学结论。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努力，不等于成功保证。</a:t>
            </a:r>
          </a:p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善意，不能代替公平规则。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542346747"/>
    </p:ext>
  </p:extLs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用七天，试着回答一次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行动邀请｜分享者设计，可选择而非强制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8366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626864"/>
                </a:solidFill>
                <a:latin typeface="Microsoft YaHei"/>
              </a:defRPr>
            </a:pPr>
            <a:r>
              <a:rPr>
                <a:ea typeface="Microsoft YaHei"/>
              </a:rPr>
              <a:t>选择一件：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202321"/>
                </a:solidFill>
                <a:latin typeface="Noto Serif SC"/>
              </a:defRPr>
            </a:pPr>
            <a:r>
              <a:rPr>
                <a:ea typeface="Noto Serif SC"/>
              </a:rPr>
              <a:t>成长 / 帮助 / 陪伴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943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复盘：我有什么变化？</a:t>
            </a:r>
          </a:p>
          <a:p>
            <a:pPr>
              <a:spcAft>
                <a:spcPts val="1000"/>
              </a:spcAft>
              <a:defRPr sz="23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对方是否受益？能否持续？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783080"/>
            <a:ext cx="4069080" cy="4114800"/>
          </a:xfrm>
          <a:prstGeom prst="rect">
            <a:avLst/>
          </a:prstGeom>
          <a:solidFill>
            <a:srgbClr val="E9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10312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我的七天实验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063240"/>
            <a:ext cx="3429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我想尝试的行动：</a:t>
            </a:r>
          </a:p>
          <a:p>
            <a:pPr>
              <a:spcAft>
                <a:spcPts val="1000"/>
              </a:spcAft>
              <a:defRPr sz="2000" b="0">
                <a:solidFill>
                  <a:srgbClr val="202321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我能投入的时间：</a:t>
            </a:r>
          </a:p>
          <a:p>
            <a:pPr>
              <a:spcAft>
                <a:spcPts val="1000"/>
              </a:spcAft>
              <a:defRPr sz="2000" b="0">
                <a:solidFill>
                  <a:srgbClr val="202321"/>
                </a:solidFill>
                <a:latin typeface="Microsoft YaHei"/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202321"/>
                </a:solidFill>
                <a:latin typeface="Microsoft YaHei"/>
              </a:defRPr>
            </a:pPr>
            <a:r>
              <a:rPr>
                <a:ea typeface="Microsoft YaHei"/>
              </a:rPr>
              <a:t>七天后想观察的变化：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1465171309"/>
    </p:ext>
  </p:extLs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标题"/>
          <p:cNvSpPr txBox="1"/>
          <p:nvPr/>
        </p:nvSpPr>
        <p:spPr>
          <a:xfrm>
            <a:off x="594360" y="521207"/>
            <a:ext cx="1100023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答案，也写在下一次选择里</a:t>
            </a:r>
          </a:p>
        </p:txBody>
      </p:sp>
      <p:sp>
        <p:nvSpPr>
          <p:cNvPr id="3" name="!!页脚"/>
          <p:cNvSpPr txBox="1"/>
          <p:nvPr/>
        </p:nvSpPr>
        <p:spPr>
          <a:xfrm>
            <a:off x="594360" y="6327648"/>
            <a:ext cx="9966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9ECE9"/>
                </a:solidFill>
                <a:latin typeface="Microsoft YaHei"/>
              </a:defRPr>
            </a:pPr>
            <a:r>
              <a:rPr>
                <a:ea typeface="Microsoft YaHei"/>
              </a:rPr>
              <a:t>结语与资料说明</a:t>
            </a:r>
          </a:p>
        </p:txBody>
      </p:sp>
      <p:sp>
        <p:nvSpPr>
          <p:cNvPr id="4" name="!!页码"/>
          <p:cNvSpPr txBox="1"/>
          <p:nvPr/>
        </p:nvSpPr>
        <p:spPr>
          <a:xfrm>
            <a:off x="11091672" y="632764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E9ECE9"/>
                </a:solidFill>
                <a:latin typeface="Microsoft YaHei"/>
              </a:defRPr>
            </a:pPr>
            <a:r>
              <a:rPr>
                <a:ea typeface="Microsoft Ya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照顾自己，回应他人。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16352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让下一次选择，</a:t>
            </a:r>
          </a:p>
          <a:p>
            <a:pPr>
              <a:spcAft>
                <a:spcPts val="1000"/>
              </a:spcAft>
              <a:defRPr sz="3100" b="1">
                <a:solidFill>
                  <a:srgbClr val="FFFFFF"/>
                </a:solidFill>
                <a:latin typeface="Noto Serif SC"/>
              </a:defRPr>
            </a:pPr>
            <a:r>
              <a:rPr>
                <a:ea typeface="Noto Serif SC"/>
              </a:rPr>
              <a:t>更接近你认同的生活。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书目参考：稻盛和夫 著，吕美女 译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《人为什么活着》，中国人民大学出版社，2009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ISBN 9787300101118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30368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E9ECE9"/>
                </a:solidFill>
                <a:latin typeface="Microsoft YaHei"/>
              </a:defRPr>
            </a:pPr>
            <a:r>
              <a:rPr>
                <a:ea typeface="Microsoft YaHei"/>
              </a:rPr>
              <a:t>图像：Rowlandson《The Library》、Rembrandt《Woman Reading》、Jacque《The Sower》、Hollar《The Stone Bridge》。均由大都会艺术博物馆提供，公有领域 CC0。</a:t>
            </a:r>
          </a:p>
          <a:p>
            <a:pPr>
              <a:spcAft>
                <a:spcPts val="1000"/>
              </a:spcAft>
              <a:defRPr sz="1100" b="0">
                <a:solidFill>
                  <a:srgbClr val="E9ECE9"/>
                </a:solidFill>
                <a:latin typeface="Microsoft YaHei"/>
              </a:defRPr>
            </a:pPr>
            <a:r>
              <a:rPr>
                <a:ea typeface="Microsoft YaHei"/>
              </a:rPr>
              <a:t>metmuseum.org/collection</a:t>
            </a:r>
          </a:p>
        </p:txBody>
      </p:sp>
      <p:sp xmlns:mc="http://schemas.openxmlformats.org/markup-compatibility/2006" xmlns:p14="http://schemas.microsoft.com/office/powerpoint/2010/main">
        <p:nvSpPr>
          <p:cNvPr id="9" name="缩放定位标题"/>
          <p:cNvSpPr txBox="1"/>
          <p:nvPr/>
        </p:nvSpPr>
        <p:spPr>
          <a:xfrm>
            <a:off x="7498080" y="427939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zh-CN" sz="1600" b="1">
                <a:solidFill>
                  <a:srgbClr val="FFFFFF"/>
                </a:solidFill>
                <a:latin typeface="Noto Serif SC"/>
                <a:ea typeface="Noto Serif SC"/>
              </a:rPr>
              <a:t>回看三条线索</a:t>
            </a:r>
          </a:p>
        </p:txBody>
      </p:sp>
      <mc:AlternateContent xmlns:mc="http://schemas.openxmlformats.org/markup-compatibility/2006" xmlns:p14="http://schemas.microsoft.com/office/powerpoint/2010/main">
        <mc:Choice xmlns:pslz="http://schemas.microsoft.com/office/powerpoint/2016/slidezoom" Requires="pslz">
          <p:graphicFrame>
            <p:nvGraphicFramePr>
              <p:cNvPr id="10" name="幻灯片缩放定位：个体与社会" descr="幻灯片缩放定位：个体与社会"/>
              <p:cNvGraphicFramePr>
                <a:graphicFrameLocks noChangeAspect="1"/>
              </p:cNvGraphicFramePr>
              <p:nvPr/>
            </p:nvGraphicFramePr>
            <p:xfrm>
              <a:off x="7498080" y="4700016"/>
              <a:ext cx="1225296" cy="689229"/>
            </p:xfrm>
            <a:graphic>
              <a:graphicData uri="http://schemas.microsoft.com/office/powerpoint/2016/slidezoom">
                <pslz:sldZm>
                  <pslz:sldZmObj sldId="261" cId="1502557535">
                    <pslz:zmPr id="{BBF2C393-2450-4CFC-AF83-26EFD90A438C}" returnToParent="1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25296" cy="689229"/>
                        </a:xfrm>
                        <a:prstGeom prst="rect">
                          <a:avLst/>
                        </a:prstGeom>
                        <a:ln w="9525">
                          <a:solidFill>
                            <a:srgbClr val="E9ECE9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0" name="幻灯片缩放定位：个体与社会" descr="幻灯片缩放定位：个体与社会">
                <a:hlinkClick r:id="rId4" action="ppaction://hlinksldjump"/>
              </p:cNvPr>
              <p:cNvPicPr>
                <a:picLocks noGrp="1" noRot="1"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98080" y="4700016"/>
                <a:ext cx="1225296" cy="689229"/>
              </a:xfrm>
              <a:prstGeom prst="rect">
                <a:avLst/>
              </a:prstGeom>
              <a:ln w="9525">
                <a:solidFill>
                  <a:srgbClr val="E9ECE9"/>
                </a:solidFill>
              </a:ln>
            </p:spPr>
          </p:pic>
        </mc:Fallback>
      </mc:AlternateContent>
      <p:sp xmlns:mc="http://schemas.openxmlformats.org/markup-compatibility/2006" xmlns:p14="http://schemas.microsoft.com/office/powerpoint/2010/main">
        <p:nvSpPr>
          <p:cNvPr id="11" name="缩放定位说明：个体与社会"/>
          <p:cNvSpPr txBox="1"/>
          <p:nvPr/>
        </p:nvSpPr>
        <p:spPr>
          <a:xfrm>
            <a:off x="7498080" y="5480685"/>
            <a:ext cx="1225296" cy="246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zh-CN" sz="1100" b="0">
                <a:solidFill>
                  <a:srgbClr val="E9ECE9"/>
                </a:solidFill>
                <a:latin typeface="Microsoft YaHei"/>
                <a:ea typeface="Microsoft YaHei"/>
              </a:rPr>
              <a:t>个体与社会</a:t>
            </a:r>
          </a:p>
        </p:txBody>
      </p:sp>
      <mc:AlternateContent xmlns:mc="http://schemas.openxmlformats.org/markup-compatibility/2006" xmlns:p14="http://schemas.microsoft.com/office/powerpoint/2010/main">
        <mc:Choice xmlns:pslz="http://schemas.microsoft.com/office/powerpoint/2016/slidezoom" Requires="pslz">
          <p:graphicFrame>
            <p:nvGraphicFramePr>
              <p:cNvPr id="12" name="幻灯片缩放定位：小我与大我" descr="幻灯片缩放定位：小我与大我"/>
              <p:cNvGraphicFramePr>
                <a:graphicFrameLocks noChangeAspect="1"/>
              </p:cNvGraphicFramePr>
              <p:nvPr/>
            </p:nvGraphicFramePr>
            <p:xfrm>
              <a:off x="8851392" y="4700016"/>
              <a:ext cx="1225296" cy="689229"/>
            </p:xfrm>
            <a:graphic>
              <a:graphicData uri="http://schemas.microsoft.com/office/powerpoint/2016/slidezoom">
                <pslz:sldZm>
                  <pslz:sldZmObj sldId="262" cId="1082549477">
                    <pslz:zmPr id="{0D456422-B4DA-44EE-AB39-993DFC51010C}" returnToParent="1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25296" cy="689229"/>
                        </a:xfrm>
                        <a:prstGeom prst="rect">
                          <a:avLst/>
                        </a:prstGeom>
                        <a:ln w="9525">
                          <a:solidFill>
                            <a:srgbClr val="E9ECE9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2" name="幻灯片缩放定位：小我与大我" descr="幻灯片缩放定位：小我与大我">
                <a:hlinkClick r:id="rId6" action="ppaction://hlinksldjump"/>
              </p:cNvPr>
              <p:cNvPicPr>
                <a:picLocks noGrp="1" noRot="1"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51392" y="4700016"/>
                <a:ext cx="1225296" cy="689229"/>
              </a:xfrm>
              <a:prstGeom prst="rect">
                <a:avLst/>
              </a:prstGeom>
              <a:ln w="9525">
                <a:solidFill>
                  <a:srgbClr val="E9ECE9"/>
                </a:solidFill>
              </a:ln>
            </p:spPr>
          </p:pic>
        </mc:Fallback>
      </mc:AlternateContent>
      <p:sp xmlns:mc="http://schemas.openxmlformats.org/markup-compatibility/2006" xmlns:p14="http://schemas.microsoft.com/office/powerpoint/2010/main">
        <p:nvSpPr>
          <p:cNvPr id="13" name="缩放定位说明：小我与大我"/>
          <p:cNvSpPr txBox="1"/>
          <p:nvPr/>
        </p:nvSpPr>
        <p:spPr>
          <a:xfrm>
            <a:off x="8851392" y="5480685"/>
            <a:ext cx="1225296" cy="246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zh-CN" sz="1100" b="0">
                <a:solidFill>
                  <a:srgbClr val="E9ECE9"/>
                </a:solidFill>
                <a:latin typeface="Microsoft YaHei"/>
                <a:ea typeface="Microsoft YaHei"/>
              </a:rPr>
              <a:t>小我与大我</a:t>
            </a:r>
          </a:p>
        </p:txBody>
      </p:sp>
      <mc:AlternateContent xmlns:mc="http://schemas.openxmlformats.org/markup-compatibility/2006" xmlns:p14="http://schemas.microsoft.com/office/powerpoint/2010/main">
        <mc:Choice xmlns:pslz="http://schemas.microsoft.com/office/powerpoint/2016/slidezoom" Requires="pslz">
          <p:graphicFrame>
            <p:nvGraphicFramePr>
              <p:cNvPr id="14" name="幻灯片缩放定位：生命与价值" descr="幻灯片缩放定位：生命与价值"/>
              <p:cNvGraphicFramePr>
                <a:graphicFrameLocks noChangeAspect="1"/>
              </p:cNvGraphicFramePr>
              <p:nvPr/>
            </p:nvGraphicFramePr>
            <p:xfrm>
              <a:off x="10204704" y="4700016"/>
              <a:ext cx="1225296" cy="689229"/>
            </p:xfrm>
            <a:graphic>
              <a:graphicData uri="http://schemas.microsoft.com/office/powerpoint/2016/slidezoom">
                <pslz:sldZm>
                  <pslz:sldZmObj sldId="267" cId="820809834">
                    <pslz:zmPr id="{E8D53C32-875D-4485-880B-605F90D6A4EA}" returnToParent="1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25296" cy="689229"/>
                        </a:xfrm>
                        <a:prstGeom prst="rect">
                          <a:avLst/>
                        </a:prstGeom>
                        <a:ln w="9525">
                          <a:solidFill>
                            <a:srgbClr val="E9ECE9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4" name="幻灯片缩放定位：生命与价值" descr="幻灯片缩放定位：生命与价值">
                <a:hlinkClick r:id="rId8" action="ppaction://hlinksldjump"/>
              </p:cNvPr>
              <p:cNvPicPr>
                <a:picLocks noGrp="1" noRot="1"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04704" y="4700016"/>
                <a:ext cx="1225296" cy="689229"/>
              </a:xfrm>
              <a:prstGeom prst="rect">
                <a:avLst/>
              </a:prstGeom>
              <a:ln w="9525">
                <a:solidFill>
                  <a:srgbClr val="E9ECE9"/>
                </a:solidFill>
              </a:ln>
            </p:spPr>
          </p:pic>
        </mc:Fallback>
      </mc:AlternateContent>
      <p:sp xmlns:mc="http://schemas.openxmlformats.org/markup-compatibility/2006" xmlns:p14="http://schemas.microsoft.com/office/powerpoint/2010/main">
        <p:nvSpPr>
          <p:cNvPr id="15" name="缩放定位说明：生命与价值"/>
          <p:cNvSpPr txBox="1"/>
          <p:nvPr/>
        </p:nvSpPr>
        <p:spPr>
          <a:xfrm>
            <a:off x="10204704" y="5480685"/>
            <a:ext cx="1225296" cy="246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lang="zh-CN" sz="1100" b="0">
                <a:solidFill>
                  <a:srgbClr val="E9ECE9"/>
                </a:solidFill>
                <a:latin typeface="Microsoft YaHei"/>
                <a:ea typeface="Microsoft YaHei"/>
              </a:rPr>
              <a:t>生命与价值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159:morph option="byObject"/>
      </p:transition>
    </mc:Choice>
    <mc:Fallback>
      <p:transition spd="slow">
        <p:fade/>
      </p:transition>
    </mc:Fallback>
  </mc:AlternateContent>
  <p:extLst xmlns:mc="http://schemas.openxmlformats.org/markup-compatibility/2006" xmlns:p14="http://schemas.microsoft.com/office/powerpoint/2010/main">
    <p:ext uri="{BB962C8B-B14F-4D97-AF65-F5344CB8AC3E}">
      <p14:creationId val="932394120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人生•价值——读书报告会  《人为什么活着》：[日]稻盛和夫 著</dc:title>
  <dc:subject>个体与社会、小我与大我、生命与价值</dc:subject>
  <dc:creator>读书分享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